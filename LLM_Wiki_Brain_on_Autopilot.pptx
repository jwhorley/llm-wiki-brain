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a hands-on workshop — you'll leave with a working setup. The title is a riff on the 'This Is Your Brain on Drugs' PSA: your notes are the brain, Claude Code puts them on autopilot.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minutes total. We move quickly through concepts, then spend the majority in demos and hands-on. Don't worry if you don't finish — materials will be posted.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how many of you have notes you haven't looked at in 6+ months? The problem isn't the tools — notes were never designed to be queried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insight: LLMs are Wikipedia on the inside. What if that wikipedia was YOUR notes? Claude Code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your own vault structure here. PARA (Projects/Areas/Resources/Archive) is a great starting point. The key habit: daily notes as a consistent practice is the foundation everything else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live. Show the install, navigate to your vault, prime Claude with the 'read all files' prompt. This is the magic moment where it all clicks for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launch pad. Once wiki is set up, typing 'wiki' drops you directly into a Claude Code session inside your vault — no navigating, no thinking. Show it live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terminal. Run these prompts against your real vault. Let the audience see Claude referencing actual file names and dates. The speed is usually the first 'wow'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7 minutes. Walk the room. Help people stuck on install — pair them with someone who has a vault. The right box is for people starting from zero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often the most surprising demo. Ask Claude what you've been 'obsessed with but haven't acted on' — the answer is usually uncomfortably accurate. Let that land with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startup ideas from your real vault. Point out that Claude cites which notes informed each idea — this is the 'not generic AI' moment. The ideas have your fingerprints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daily review command live. Then show the cron job concept — the system runs without you touching it. This is the autopilot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minutes. Push them to actually run the command, not just design it. The template on the right is a real starting point they can copy verbatim and test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these briefly and let people self-select. The scheduled digest is the most popular among daily users. Idea evolution tracing is the most intellectually exciting.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closing insight: this system compounds. It's not about the tool — it's about the habit. Your writing is the asset. Claude is the engine. The more you write, the smarter your system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272BE">
                  <a:alpha val="12000"/>
                </a:srgbClr>
              </a:gs>
              <a:gs pos="100000">
                <a:srgbClr val="6272B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50" y="2596976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AUSTIN AI ALLIANCE · JUNE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239914"/>
            <a:ext cx="17811750" cy="94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7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</a:t>
            </a:r>
            <a:endParaRPr lang="en-US" sz="6750" dirty="0"/>
          </a:p>
        </p:txBody>
      </p:sp>
      <p:sp>
        <p:nvSpPr>
          <p:cNvPr id="6" name="Text 3"/>
          <p:cNvSpPr/>
          <p:nvPr/>
        </p:nvSpPr>
        <p:spPr>
          <a:xfrm>
            <a:off x="1047750" y="4148584"/>
            <a:ext cx="17811750" cy="94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750" b="1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Wiki Brain</a:t>
            </a:r>
            <a:endParaRPr lang="en-US" sz="6750" dirty="0"/>
          </a:p>
        </p:txBody>
      </p:sp>
      <p:sp>
        <p:nvSpPr>
          <p:cNvPr id="7" name="Text 4"/>
          <p:cNvSpPr/>
          <p:nvPr/>
        </p:nvSpPr>
        <p:spPr>
          <a:xfrm>
            <a:off x="1047750" y="5057254"/>
            <a:ext cx="17811750" cy="94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7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Autopilot</a:t>
            </a:r>
            <a:endParaRPr lang="en-US" sz="6750" dirty="0"/>
          </a:p>
        </p:txBody>
      </p:sp>
      <p:sp>
        <p:nvSpPr>
          <p:cNvPr id="8" name="Shape 5"/>
          <p:cNvSpPr/>
          <p:nvPr/>
        </p:nvSpPr>
        <p:spPr>
          <a:xfrm>
            <a:off x="1047750" y="6461224"/>
            <a:ext cx="952500" cy="38100"/>
          </a:xfrm>
          <a:prstGeom prst="rect">
            <a:avLst/>
          </a:prstGeom>
          <a:solidFill>
            <a:srgbClr val="6272BE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6918424"/>
            <a:ext cx="17811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P. Whorley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47750" y="7342287"/>
            <a:ext cx="178117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Asst. Director Operations, Machine Learning Lab @ UT Austin</a:t>
            </a:r>
            <a:endParaRPr lang="en-US" sz="2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Game Plan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1962150"/>
            <a:ext cx="3848100" cy="7562850"/>
          </a:xfrm>
          <a:prstGeom prst="roundRect">
            <a:avLst>
              <a:gd name="adj" fmla="val 2970"/>
            </a:avLst>
          </a:prstGeom>
          <a:solidFill>
            <a:srgbClr val="F7F6F2"/>
          </a:solidFill>
          <a:ln/>
        </p:spPr>
      </p:sp>
      <p:sp>
        <p:nvSpPr>
          <p:cNvPr id="4" name="Text 2"/>
          <p:cNvSpPr/>
          <p:nvPr/>
        </p:nvSpPr>
        <p:spPr>
          <a:xfrm>
            <a:off x="1390650" y="2381250"/>
            <a:ext cx="3478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 · 15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0650" y="2862263"/>
            <a:ext cx="34785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90650" y="3443288"/>
            <a:ext cx="3257169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wiki-brain concept, Obsidian basics, and why this combination changes how you work.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62550" y="1962150"/>
            <a:ext cx="3848100" cy="7562850"/>
          </a:xfrm>
          <a:prstGeom prst="roundRect">
            <a:avLst>
              <a:gd name="adj" fmla="val 2970"/>
            </a:avLst>
          </a:prstGeom>
          <a:solidFill>
            <a:srgbClr val="F7F6F2"/>
          </a:solidFill>
          <a:ln/>
        </p:spPr>
      </p:sp>
      <p:sp>
        <p:nvSpPr>
          <p:cNvPr id="8" name="Text 6"/>
          <p:cNvSpPr/>
          <p:nvPr/>
        </p:nvSpPr>
        <p:spPr>
          <a:xfrm>
            <a:off x="5505450" y="2381250"/>
            <a:ext cx="3478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 · 20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05450" y="2862263"/>
            <a:ext cx="34785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Live Demo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505450" y="3443288"/>
            <a:ext cx="3257169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Claude Code connected to a vault, then four live demos showing what it can actually do.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1962150"/>
            <a:ext cx="3848100" cy="7562850"/>
          </a:xfrm>
          <a:prstGeom prst="roundRect">
            <a:avLst>
              <a:gd name="adj" fmla="val 2970"/>
            </a:avLst>
          </a:prstGeom>
          <a:solidFill>
            <a:srgbClr val="F7F6F2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2381250"/>
            <a:ext cx="3478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 · 25 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20250" y="2862263"/>
            <a:ext cx="34785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620250" y="3443288"/>
            <a:ext cx="3257169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it. Two guided activities: your first vault query and your first agent command.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3392150" y="1962150"/>
            <a:ext cx="3848100" cy="7562850"/>
          </a:xfrm>
          <a:prstGeom prst="roundRect">
            <a:avLst>
              <a:gd name="adj" fmla="val 2970"/>
            </a:avLst>
          </a:prstGeom>
          <a:solidFill>
            <a:srgbClr val="F7F6F2"/>
          </a:solidFill>
          <a:ln/>
        </p:spPr>
      </p:sp>
      <p:sp>
        <p:nvSpPr>
          <p:cNvPr id="16" name="Text 14"/>
          <p:cNvSpPr/>
          <p:nvPr/>
        </p:nvSpPr>
        <p:spPr>
          <a:xfrm>
            <a:off x="13735050" y="2381250"/>
            <a:ext cx="3478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 · 15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35050" y="2862263"/>
            <a:ext cx="34785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+ Q&amp;A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735050" y="3443288"/>
            <a:ext cx="3257169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workflows, where to take this next, and open discussion.</a:t>
            </a:r>
            <a:endParaRPr lang="en-US" sz="2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Notes Are Rotting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1962150"/>
            <a:ext cx="8325111" cy="1889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write. You file. You forget.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047750" y="4232821"/>
            <a:ext cx="8325111" cy="2301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70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knowledge worker captures thousands of notes over a career — and retrieves almost none of them. The problem isn't discipline. It's the missing layer between capture and use.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92382" y="2038350"/>
            <a:ext cx="80826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trap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892382" y="2638425"/>
            <a:ext cx="756830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rewarded for writing things down, not for acting on them. The inbox grows. Nothing gets processed.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892382" y="3867150"/>
            <a:ext cx="7347868" cy="9525"/>
          </a:xfrm>
          <a:prstGeom prst="rect">
            <a:avLst/>
          </a:prstGeom>
          <a:solidFill>
            <a:srgbClr val="E0DED8"/>
          </a:solidFill>
          <a:ln/>
        </p:spPr>
      </p:sp>
      <p:sp>
        <p:nvSpPr>
          <p:cNvPr id="8" name="Text 6"/>
          <p:cNvSpPr/>
          <p:nvPr/>
        </p:nvSpPr>
        <p:spPr>
          <a:xfrm>
            <a:off x="9892382" y="4219575"/>
            <a:ext cx="80826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connective tissue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892382" y="4819650"/>
            <a:ext cx="756830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don't talk to each other. A 2021 idea and a 2024 project that should be linked — aren't.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892382" y="6048375"/>
            <a:ext cx="7347868" cy="9525"/>
          </a:xfrm>
          <a:prstGeom prst="rect">
            <a:avLst/>
          </a:prstGeom>
          <a:solidFill>
            <a:srgbClr val="E0DED8"/>
          </a:solidFill>
          <a:ln/>
        </p:spPr>
      </p:sp>
      <p:sp>
        <p:nvSpPr>
          <p:cNvPr id="11" name="Text 9"/>
          <p:cNvSpPr/>
          <p:nvPr/>
        </p:nvSpPr>
        <p:spPr>
          <a:xfrm>
            <a:off x="9892382" y="6400800"/>
            <a:ext cx="80826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failure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892382" y="7000875"/>
            <a:ext cx="756830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find what you know you wrote. Search fails you. Folders betray you. The insight is gone.</a:t>
            </a:r>
            <a:endParaRPr lang="en-US" sz="2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Know Wikipedia. What If They Knew </a:t>
            </a:r>
            <a:pPr algn="l" indent="0" marL="0">
              <a:buNone/>
            </a:pPr>
            <a:r>
              <a:rPr lang="en-US" sz="5100" b="1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You?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1962150"/>
            <a:ext cx="8077200" cy="7562850"/>
          </a:xfrm>
          <a:prstGeom prst="roundRect">
            <a:avLst>
              <a:gd name="adj" fmla="val 1511"/>
            </a:avLst>
          </a:prstGeom>
          <a:solidFill>
            <a:srgbClr val="F7F6F2"/>
          </a:solidFill>
          <a:ln/>
        </p:spPr>
      </p:sp>
      <p:sp>
        <p:nvSpPr>
          <p:cNvPr id="4" name="Text 2"/>
          <p:cNvSpPr/>
          <p:nvPr/>
        </p:nvSpPr>
        <p:spPr>
          <a:xfrm>
            <a:off x="1504950" y="2457450"/>
            <a:ext cx="7879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BRAIN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4950" y="2976563"/>
            <a:ext cx="78790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world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04950" y="3695700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Wikipedia, books, the entire web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4950" y="4329113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everything about ML in general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04950" y="4962525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at training cutoff — no updates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04950" y="5595938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 idea who you are or how you think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24950" y="1962150"/>
            <a:ext cx="38100" cy="7562850"/>
          </a:xfrm>
          <a:prstGeom prst="rect">
            <a:avLst/>
          </a:prstGeom>
          <a:gradFill rotWithShape="1">
            <a:gsLst>
              <a:gs pos="0">
                <a:srgbClr val="6272BE">
                  <a:alpha val="100000"/>
                </a:srgbClr>
              </a:gs>
              <a:gs pos="100000">
                <a:srgbClr val="4B7826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9163050" y="1962150"/>
            <a:ext cx="8077200" cy="7562850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2457450"/>
            <a:ext cx="7879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WIKI BRAIN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20250" y="2976563"/>
            <a:ext cx="78790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you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620250" y="3695700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notes, projects, ideas — in one vault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20250" y="4329113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your specific context, language, patterns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20250" y="4962525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every single time you write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20250" y="5595938"/>
            <a:ext cx="78790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can read and reason over ALL of it</a:t>
            </a:r>
            <a:endParaRPr lang="en-US" sz="2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Stack: Obsidian + Claude Code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1962150"/>
            <a:ext cx="5168875" cy="7562850"/>
          </a:xfrm>
          <a:prstGeom prst="roundRect">
            <a:avLst>
              <a:gd name="adj" fmla="val 221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481263"/>
            <a:ext cx="181956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9365" r="-29365" t="0" b="0"/>
          <a:stretch/>
        </p:blipFill>
        <p:spPr>
          <a:xfrm>
            <a:off x="5226025" y="2419350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8750" y="3219450"/>
            <a:ext cx="48475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KNOWLEDGE VAULT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428750" y="3700463"/>
            <a:ext cx="457200" cy="28575"/>
          </a:xfrm>
          <a:prstGeom prst="rect">
            <a:avLst/>
          </a:prstGeom>
          <a:solidFill>
            <a:srgbClr val="6272BE"/>
          </a:solidFill>
          <a:ln/>
        </p:spPr>
      </p:sp>
      <p:sp>
        <p:nvSpPr>
          <p:cNvPr id="8" name="Text 5"/>
          <p:cNvSpPr/>
          <p:nvPr/>
        </p:nvSpPr>
        <p:spPr>
          <a:xfrm>
            <a:off x="1428750" y="3957638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markdown files — yours forever, no lock-in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28750" y="4986338"/>
            <a:ext cx="484756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Interlinked notes via [[wiki-links]]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28750" y="5586413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view: visualize how ideas connect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28750" y="6615113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Plugins: Dataview, Templater, Git, Calendar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559525" y="1962150"/>
            <a:ext cx="5168950" cy="7562850"/>
          </a:xfrm>
          <a:prstGeom prst="roundRect">
            <a:avLst>
              <a:gd name="adj" fmla="val 2211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940525" y="2481263"/>
            <a:ext cx="269116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37875" y="2419350"/>
            <a:ext cx="609600" cy="609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0525" y="3219450"/>
            <a:ext cx="4847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THINKING PARTNER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940525" y="3700463"/>
            <a:ext cx="457200" cy="28575"/>
          </a:xfrm>
          <a:prstGeom prst="rect">
            <a:avLst/>
          </a:prstGeom>
          <a:solidFill>
            <a:srgbClr val="6272BE"/>
          </a:solidFill>
          <a:ln/>
        </p:spPr>
      </p:sp>
      <p:sp>
        <p:nvSpPr>
          <p:cNvPr id="17" name="Text 13"/>
          <p:cNvSpPr/>
          <p:nvPr/>
        </p:nvSpPr>
        <p:spPr>
          <a:xfrm>
            <a:off x="6940525" y="3957638"/>
            <a:ext cx="45391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your terminal, reads local files directly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6940525" y="4986338"/>
            <a:ext cx="45391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Traverses your entire vault in one context window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6940525" y="6015038"/>
            <a:ext cx="45391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Reads, writes, edits, and reorganizes markdown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6940525" y="7043738"/>
            <a:ext cx="45391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custom commands and agents autonomously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12071375" y="1962150"/>
            <a:ext cx="5168875" cy="7562850"/>
          </a:xfrm>
          <a:prstGeom prst="roundRect">
            <a:avLst>
              <a:gd name="adj" fmla="val 2211"/>
            </a:avLst>
          </a:prstGeom>
          <a:solidFill>
            <a:srgbClr val="6272BE"/>
          </a:solidFill>
          <a:ln/>
        </p:spPr>
      </p:sp>
      <p:sp>
        <p:nvSpPr>
          <p:cNvPr id="22" name="Text 18"/>
          <p:cNvSpPr/>
          <p:nvPr/>
        </p:nvSpPr>
        <p:spPr>
          <a:xfrm>
            <a:off x="12452375" y="2419350"/>
            <a:ext cx="484756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3300" dirty="0"/>
          </a:p>
        </p:txBody>
      </p:sp>
      <p:sp>
        <p:nvSpPr>
          <p:cNvPr id="23" name="Text 19"/>
          <p:cNvSpPr/>
          <p:nvPr/>
        </p:nvSpPr>
        <p:spPr>
          <a:xfrm>
            <a:off x="12452375" y="3095625"/>
            <a:ext cx="48475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OPERATING SYSTEM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2452375" y="3576638"/>
            <a:ext cx="457200" cy="2857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2452375" y="3833812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across years of writing</a:t>
            </a:r>
            <a:endParaRPr lang="en-US" sz="2250" dirty="0"/>
          </a:p>
        </p:txBody>
      </p:sp>
      <p:sp>
        <p:nvSpPr>
          <p:cNvPr id="26" name="Text 22"/>
          <p:cNvSpPr/>
          <p:nvPr/>
        </p:nvSpPr>
        <p:spPr>
          <a:xfrm>
            <a:off x="12452375" y="4862513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patterns you never noticed</a:t>
            </a:r>
            <a:endParaRPr lang="en-US" sz="2250" dirty="0"/>
          </a:p>
        </p:txBody>
      </p:sp>
      <p:sp>
        <p:nvSpPr>
          <p:cNvPr id="27" name="Text 23"/>
          <p:cNvSpPr/>
          <p:nvPr/>
        </p:nvSpPr>
        <p:spPr>
          <a:xfrm>
            <a:off x="12452375" y="5891213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ideas grounded in your context</a:t>
            </a:r>
            <a:endParaRPr lang="en-US" sz="2250" dirty="0"/>
          </a:p>
        </p:txBody>
      </p:sp>
      <p:sp>
        <p:nvSpPr>
          <p:cNvPr id="28" name="Text 24"/>
          <p:cNvSpPr/>
          <p:nvPr/>
        </p:nvSpPr>
        <p:spPr>
          <a:xfrm>
            <a:off x="12452375" y="6919913"/>
            <a:ext cx="45390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tasks to autonomous agents</a:t>
            </a:r>
            <a:endParaRPr lang="en-US" sz="22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140744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3562350"/>
            <a:ext cx="4648200" cy="4362450"/>
          </a:xfrm>
          <a:prstGeom prst="roundRect">
            <a:avLst>
              <a:gd name="adj" fmla="val 2620"/>
            </a:avLst>
          </a:prstGeom>
          <a:solidFill>
            <a:srgbClr val="F7F6F2"/>
          </a:solidFill>
          <a:ln/>
        </p:spPr>
      </p:sp>
      <p:sp>
        <p:nvSpPr>
          <p:cNvPr id="4" name="Text 2"/>
          <p:cNvSpPr/>
          <p:nvPr/>
        </p:nvSpPr>
        <p:spPr>
          <a:xfrm>
            <a:off x="1466850" y="4057650"/>
            <a:ext cx="41910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6850" y="4538663"/>
            <a:ext cx="4191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466850" y="5214938"/>
            <a:ext cx="3924300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notes naturally in Obsidian. Daily notes, project logs, ideas, links. Write for yourself — don't optimize for machines.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000750" y="5460206"/>
            <a:ext cx="60579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E0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6800850" y="3340894"/>
            <a:ext cx="4648200" cy="4805363"/>
          </a:xfrm>
          <a:prstGeom prst="roundRect">
            <a:avLst>
              <a:gd name="adj" fmla="val 2459"/>
            </a:avLst>
          </a:prstGeom>
          <a:solidFill>
            <a:srgbClr val="F7F6F2"/>
          </a:solidFill>
          <a:ln/>
        </p:spPr>
      </p:sp>
      <p:sp>
        <p:nvSpPr>
          <p:cNvPr id="9" name="Text 7"/>
          <p:cNvSpPr/>
          <p:nvPr/>
        </p:nvSpPr>
        <p:spPr>
          <a:xfrm>
            <a:off x="7219950" y="3836194"/>
            <a:ext cx="41910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19950" y="4317206"/>
            <a:ext cx="4191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19950" y="4993481"/>
            <a:ext cx="3924300" cy="269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Claude Code in your terminal and point it at your vault. It reads every markdown file and builds context across your entire knowledge base.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753850" y="5460206"/>
            <a:ext cx="605790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E0D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2553950" y="3543300"/>
            <a:ext cx="4686300" cy="4400550"/>
          </a:xfrm>
          <a:prstGeom prst="roundRect">
            <a:avLst>
              <a:gd name="adj" fmla="val 2597"/>
            </a:avLst>
          </a:prstGeom>
          <a:solidFill>
            <a:srgbClr val="EEF0FA"/>
          </a:solidFill>
          <a:ln w="19050">
            <a:solidFill>
              <a:srgbClr val="6272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92100" y="4057650"/>
            <a:ext cx="41910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92100" y="4538663"/>
            <a:ext cx="41910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992100" y="5214938"/>
            <a:ext cx="3924300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questions, find patterns, generate ideas, delegate tasks. Years of writing become instantly queryable intelligence.</a:t>
            </a:r>
            <a:endParaRPr lang="en-US" sz="22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Obsidian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1962150"/>
            <a:ext cx="897872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Vault Structure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47750" y="2676525"/>
            <a:ext cx="8162479" cy="3805833"/>
          </a:xfrm>
          <a:prstGeom prst="roundRect">
            <a:avLst>
              <a:gd name="adj" fmla="val 3003"/>
            </a:avLst>
          </a:prstGeom>
          <a:solidFill>
            <a:srgbClr val="1E2030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019425"/>
            <a:ext cx="7622493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Vault/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95450" y="3539430"/>
            <a:ext cx="7347792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wiki/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 writes everything here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62150" y="4059436"/>
            <a:ext cx="7073091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index.md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of contents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62150" y="4579441"/>
            <a:ext cx="7073091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log.md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operations history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95450" y="5099447"/>
            <a:ext cx="7347792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new content here for the Agent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95450" y="5619452"/>
            <a:ext cx="7347792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*Claude.md </a:t>
            </a:r>
            <a:pPr algn="l" indent="0" marL="0">
              <a:lnSpc>
                <a:spcPct val="21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rules / schema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829" y="1962150"/>
            <a:ext cx="81624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Plugins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819829" y="2759869"/>
            <a:ext cx="2087910" cy="414338"/>
          </a:xfrm>
          <a:prstGeom prst="roundRect">
            <a:avLst>
              <a:gd name="adj" fmla="val 13793"/>
            </a:avLst>
          </a:prstGeom>
          <a:solidFill>
            <a:srgbClr val="6272BE"/>
          </a:solidFill>
          <a:ln/>
        </p:spPr>
      </p:sp>
      <p:sp>
        <p:nvSpPr>
          <p:cNvPr id="13" name="Text 11"/>
          <p:cNvSpPr/>
          <p:nvPr/>
        </p:nvSpPr>
        <p:spPr>
          <a:xfrm>
            <a:off x="9972229" y="2817019"/>
            <a:ext cx="18593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Lean Terminal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98238" y="2752725"/>
            <a:ext cx="37943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.zsh within Obsidian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819829" y="3371850"/>
            <a:ext cx="5654055" cy="414338"/>
          </a:xfrm>
          <a:prstGeom prst="roundRect">
            <a:avLst>
              <a:gd name="adj" fmla="val 13793"/>
            </a:avLst>
          </a:prstGeom>
          <a:solidFill>
            <a:srgbClr val="868890"/>
          </a:solidFill>
          <a:ln/>
        </p:spPr>
      </p:sp>
      <p:sp>
        <p:nvSpPr>
          <p:cNvPr id="16" name="Text 14"/>
          <p:cNvSpPr/>
          <p:nvPr/>
        </p:nvSpPr>
        <p:spPr>
          <a:xfrm>
            <a:off x="9972229" y="3429000"/>
            <a:ext cx="55188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Community Plugins to check out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19829" y="4198144"/>
            <a:ext cx="1402110" cy="414338"/>
          </a:xfrm>
          <a:prstGeom prst="roundRect">
            <a:avLst>
              <a:gd name="adj" fmla="val 13793"/>
            </a:avLst>
          </a:prstGeom>
          <a:solidFill>
            <a:srgbClr val="6272BE"/>
          </a:solidFill>
          <a:ln/>
        </p:spPr>
      </p:sp>
      <p:sp>
        <p:nvSpPr>
          <p:cNvPr id="18" name="Text 16"/>
          <p:cNvSpPr/>
          <p:nvPr/>
        </p:nvSpPr>
        <p:spPr>
          <a:xfrm>
            <a:off x="9972229" y="4255294"/>
            <a:ext cx="1173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Dataview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12438" y="3976687"/>
            <a:ext cx="6002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your notes like a database with SQL-like syntax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819829" y="5245894"/>
            <a:ext cx="716310" cy="414338"/>
          </a:xfrm>
          <a:prstGeom prst="roundRect">
            <a:avLst>
              <a:gd name="adj" fmla="val 13793"/>
            </a:avLst>
          </a:prstGeom>
          <a:solidFill>
            <a:srgbClr val="6272BE"/>
          </a:solidFill>
          <a:ln/>
        </p:spPr>
      </p:sp>
      <p:sp>
        <p:nvSpPr>
          <p:cNvPr id="21" name="Text 19"/>
          <p:cNvSpPr/>
          <p:nvPr/>
        </p:nvSpPr>
        <p:spPr>
          <a:xfrm>
            <a:off x="9972229" y="5303044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26638" y="5024438"/>
            <a:ext cx="670902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— track how your thinking evolves over time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9829" y="6079331"/>
            <a:ext cx="1402110" cy="414338"/>
          </a:xfrm>
          <a:prstGeom prst="roundRect">
            <a:avLst>
              <a:gd name="adj" fmla="val 13793"/>
            </a:avLst>
          </a:prstGeom>
          <a:solidFill>
            <a:srgbClr val="6272BE"/>
          </a:solidFill>
          <a:ln/>
        </p:spPr>
      </p:sp>
      <p:sp>
        <p:nvSpPr>
          <p:cNvPr id="24" name="Text 22"/>
          <p:cNvSpPr/>
          <p:nvPr/>
        </p:nvSpPr>
        <p:spPr>
          <a:xfrm>
            <a:off x="9972229" y="6136481"/>
            <a:ext cx="1173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12438" y="6072188"/>
            <a:ext cx="633422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daily notes as a heat-map over time</a:t>
            </a:r>
            <a:endParaRPr lang="en-US" sz="22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Claude Code to Your Vault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1962150"/>
            <a:ext cx="85615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INSTALL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405063"/>
            <a:ext cx="7783264" cy="747713"/>
          </a:xfrm>
          <a:prstGeom prst="roundRect">
            <a:avLst>
              <a:gd name="adj" fmla="val 12739"/>
            </a:avLst>
          </a:prstGeom>
          <a:solidFill>
            <a:srgbClr val="1E2030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614613"/>
            <a:ext cx="740716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950" dirty="0">
                <a:solidFill>
                  <a:srgbClr val="CDD6F4"/>
                </a:solidFill>
                <a:highlight>
                  <a:srgbClr val="1E20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419475"/>
            <a:ext cx="85615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NAVIGATE TO YOUR VAULT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862387"/>
            <a:ext cx="7783264" cy="1360140"/>
          </a:xfrm>
          <a:prstGeom prst="roundRect">
            <a:avLst>
              <a:gd name="adj" fmla="val 7003"/>
            </a:avLst>
          </a:prstGeom>
          <a:solidFill>
            <a:srgbClr val="1E2030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4071938"/>
            <a:ext cx="738887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~/Obsidian/MyVault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52550" y="4542458"/>
            <a:ext cx="738887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5489228"/>
            <a:ext cx="801676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ENABLE OBSIDIAN URI (SETTINGS → GENERAL → ADVANCED)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6184553"/>
            <a:ext cx="7783264" cy="1245840"/>
          </a:xfrm>
          <a:prstGeom prst="roundRect">
            <a:avLst>
              <a:gd name="adj" fmla="val 7645"/>
            </a:avLst>
          </a:prstGeom>
          <a:solidFill>
            <a:srgbClr val="1E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6336953"/>
            <a:ext cx="7388874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☑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Obsidian URI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obsidian.md/cli — one toggle, no install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7963793"/>
            <a:ext cx="85615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PRIME THE CONTEXT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8368605"/>
            <a:ext cx="7783264" cy="1716360"/>
          </a:xfrm>
          <a:prstGeom prst="roundRect">
            <a:avLst>
              <a:gd name="adj" fmla="val 5550"/>
            </a:avLst>
          </a:prstGeom>
          <a:solidFill>
            <a:srgbClr val="1E2030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8521005"/>
            <a:ext cx="738887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model of my knowledge base.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2550" y="8991526"/>
            <a:ext cx="7388874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the schema for your second brain - don't let the "blank slate" intimidate you!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402514" y="1962150"/>
            <a:ext cx="7837736" cy="7724775"/>
          </a:xfrm>
          <a:prstGeom prst="roundRect">
            <a:avLst>
              <a:gd name="adj" fmla="val 1480"/>
            </a:avLst>
          </a:prstGeom>
          <a:solidFill>
            <a:srgbClr val="F7F6F2"/>
          </a:solidFill>
          <a:ln/>
        </p:spPr>
      </p:sp>
      <p:sp>
        <p:nvSpPr>
          <p:cNvPr id="18" name="Text 16"/>
          <p:cNvSpPr/>
          <p:nvPr/>
        </p:nvSpPr>
        <p:spPr>
          <a:xfrm>
            <a:off x="9783514" y="2381250"/>
            <a:ext cx="778330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reads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783514" y="3095625"/>
            <a:ext cx="72880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.md file — years of writing loaded into a single conversation context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83514" y="4171950"/>
            <a:ext cx="72880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 — dates, tags, and metadata become queryable attributes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783514" y="5248275"/>
            <a:ext cx="72880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[[Wiki-links]] — Claude understands your note connections as a knowledge graph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783514" y="6324600"/>
            <a:ext cx="72880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structure — context about how you organize different kinds of knowledge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83514" y="7515225"/>
            <a:ext cx="7075736" cy="1752600"/>
          </a:xfrm>
          <a:prstGeom prst="roundRect">
            <a:avLst>
              <a:gd name="adj" fmla="val 4348"/>
            </a:avLst>
          </a:prstGeom>
          <a:solidFill>
            <a:srgbClr val="6272B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12114" y="7705725"/>
            <a:ext cx="68170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--dangerously-skip-permissions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lets Claude work autonomously without prompting for each file operation.</a:t>
            </a:r>
            <a:endParaRPr lang="en-US" sz="22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algn="l" indent="0" marL="0">
              <a:buNone/>
            </a:pPr>
            <a:r>
              <a:rPr lang="en-US" sz="5100" b="1" dirty="0">
                <a:solidFill>
                  <a:srgbClr val="4B7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 </a:t>
            </a:r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2009775"/>
            <a:ext cx="8915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— ADD TO ~/.ZSHRC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452688"/>
            <a:ext cx="8104882" cy="2021160"/>
          </a:xfrm>
          <a:prstGeom prst="roundRect">
            <a:avLst>
              <a:gd name="adj" fmla="val 4713"/>
            </a:avLst>
          </a:prstGeom>
          <a:solidFill>
            <a:srgbClr val="1E2030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719388"/>
            <a:ext cx="764165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paste this line into ~/.zshrc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3189908"/>
            <a:ext cx="764165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wiki='cd "{path_to_your_vault}" &amp;&amp; claude'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90650" y="3736628"/>
            <a:ext cx="764165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~/.zshrc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4778648"/>
            <a:ext cx="8915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— ADD TO $PROFILE (POWERSHELL)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5221560"/>
            <a:ext cx="8104882" cy="2491680"/>
          </a:xfrm>
          <a:prstGeom prst="roundRect">
            <a:avLst>
              <a:gd name="adj" fmla="val 3823"/>
            </a:avLst>
          </a:prstGeom>
          <a:solidFill>
            <a:srgbClr val="1E2030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5488260"/>
            <a:ext cx="764165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paste into $PROFILE (notepad $PROFILE)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90650" y="5958780"/>
            <a:ext cx="7641654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wiki { Set-Location "{path_to_your_vault}"; claude }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90650" y="6976021"/>
            <a:ext cx="7641654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$PROFILE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724132" y="2009775"/>
            <a:ext cx="7516118" cy="6205538"/>
          </a:xfrm>
          <a:prstGeom prst="roundRect">
            <a:avLst>
              <a:gd name="adj" fmla="val 1842"/>
            </a:avLst>
          </a:prstGeom>
          <a:solidFill>
            <a:srgbClr val="F7F6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105132" y="2428875"/>
            <a:ext cx="7429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wiki does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105132" y="3143250"/>
            <a:ext cx="69567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launches a full Claude Code session inside your vault — no path navigation, no setup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105132" y="4219575"/>
            <a:ext cx="6956742" cy="92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highlight>
                  <a:srgbClr val="E0DED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{path_to_your_vault}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your actual vault path, e.g.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A6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~/Obsidian/MyVault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105132" y="5300663"/>
            <a:ext cx="6956742" cy="92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from any directory — type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highlight>
                  <a:srgbClr val="E0DED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 </a:t>
            </a:r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in your terminal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105132" y="6496050"/>
            <a:ext cx="6754118" cy="1300163"/>
          </a:xfrm>
          <a:prstGeom prst="roundRect">
            <a:avLst>
              <a:gd name="adj" fmla="val 5861"/>
            </a:avLst>
          </a:prstGeom>
          <a:solidFill>
            <a:srgbClr val="4B78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333732" y="6686550"/>
            <a:ext cx="6485826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/>
                </a:solidFill>
                <a:highlight>
                  <a:srgbClr val="CCCCC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terminal now — you're in your second brain in one keystroke.</a:t>
            </a:r>
            <a:endParaRPr lang="en-US" sz="2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1512838" cy="442913"/>
          </a:xfrm>
          <a:prstGeom prst="roundRect">
            <a:avLst>
              <a:gd name="adj" fmla="val 12903"/>
            </a:avLst>
          </a:prstGeom>
          <a:solidFill>
            <a:srgbClr val="6272B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1208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89188" y="762000"/>
            <a:ext cx="620390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Vault Queries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934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519363"/>
            <a:ext cx="8499797" cy="2998291"/>
          </a:xfrm>
          <a:prstGeom prst="roundRect">
            <a:avLst>
              <a:gd name="adj" fmla="val 3812"/>
            </a:avLst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862263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 I know about machine learning?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3492773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my notes from the past 3 months.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4123283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projects am I actively working on?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4753794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all notes tagged #idea and summarize them.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7147" y="1962150"/>
            <a:ext cx="77914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FOR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57147" y="265271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3847" y="251936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references actual file names and dates — it's reading your files, not hallucinating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157147" y="3805237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3847" y="3671888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synthesizes across files — patterns that span multiple notes and years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157147" y="495776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3847" y="482441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— a query that would take hours of manual search runs in seconds</a:t>
            </a:r>
            <a:endParaRPr lang="en-US" sz="2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2534394" cy="442913"/>
          </a:xfrm>
          <a:prstGeom prst="roundRect">
            <a:avLst>
              <a:gd name="adj" fmla="val 12903"/>
            </a:avLst>
          </a:prstGeom>
          <a:solidFill>
            <a:srgbClr val="4B78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22295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· 7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744" y="762000"/>
            <a:ext cx="89086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Your First Vault Query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771650" y="2000250"/>
            <a:ext cx="687733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terminal and navigate to your Obsidian vault folder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50" y="325755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771650" y="3295650"/>
            <a:ext cx="4771320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 a session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47750" y="4043363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771650" y="4081463"/>
            <a:ext cx="687733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A6E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everything I know about [pick a topic you write about]"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" y="5338763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771650" y="5376863"/>
            <a:ext cx="672641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what it surfaces. What surprised you?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058275" y="1962150"/>
            <a:ext cx="8181975" cy="4367213"/>
          </a:xfrm>
          <a:prstGeom prst="roundRect">
            <a:avLst>
              <a:gd name="adj" fmla="val 26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8800" y="2390775"/>
            <a:ext cx="81410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have a vault yet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448800" y="3105150"/>
            <a:ext cx="814101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Obsidian free at obsidian.md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448800" y="3738563"/>
            <a:ext cx="762295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vault and write 3–5 notes on topics you know well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800" y="4814888"/>
            <a:ext cx="814101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5 notes reveals something interesting when queried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448800" y="5524500"/>
            <a:ext cx="814101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 pair with a neighbor who has a vault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929438"/>
            <a:ext cx="16192500" cy="2595563"/>
          </a:xfrm>
          <a:prstGeom prst="roundRect">
            <a:avLst>
              <a:gd name="adj" fmla="val 44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0175" y="7167563"/>
            <a:ext cx="1703641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VELOCITY TO YOUR VAULT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21" b="-621"/>
          <a:stretch/>
        </p:blipFill>
        <p:spPr>
          <a:xfrm>
            <a:off x="1400175" y="8248650"/>
            <a:ext cx="4006081" cy="4191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96756" y="7629525"/>
            <a:ext cx="3256326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 YouTube video → paste the output into your vault as a new note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9139238" y="8210550"/>
            <a:ext cx="9525" cy="4953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529763" y="8198644"/>
            <a:ext cx="1948086" cy="519113"/>
          </a:xfrm>
          <a:prstGeom prst="roundRect">
            <a:avLst>
              <a:gd name="adj" fmla="val 14679"/>
            </a:avLst>
          </a:prstGeom>
          <a:solidFill>
            <a:srgbClr val="7B5EA7"/>
          </a:solidFill>
          <a:ln/>
        </p:spPr>
      </p:sp>
      <p:sp>
        <p:nvSpPr>
          <p:cNvPr id="25" name="Text 22"/>
          <p:cNvSpPr/>
          <p:nvPr/>
        </p:nvSpPr>
        <p:spPr>
          <a:xfrm>
            <a:off x="9720263" y="8293894"/>
            <a:ext cx="1643286" cy="3667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Clipper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1668348" y="8043863"/>
            <a:ext cx="537606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any webpage directly into your vault — one click, ready to query</a:t>
            </a:r>
            <a:endParaRPr lang="en-US" sz="22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1555031" cy="442913"/>
          </a:xfrm>
          <a:prstGeom prst="roundRect">
            <a:avLst>
              <a:gd name="adj" fmla="val 12903"/>
            </a:avLst>
          </a:prstGeom>
          <a:solidFill>
            <a:srgbClr val="6272B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12502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1381" y="762000"/>
            <a:ext cx="83169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Surfacing Hidden Patterns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934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519363"/>
            <a:ext cx="8499797" cy="4261172"/>
          </a:xfrm>
          <a:prstGeom prst="roundRect">
            <a:avLst>
              <a:gd name="adj" fmla="val 2682"/>
            </a:avLst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86226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themes recur most across my notes from 2023–2024?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391373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how my thinking on [topic] evolved over time.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4965204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ideas appear in multiple separate notes?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5595714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am I clearly obsessed with but haven't acted on?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7147" y="1962150"/>
            <a:ext cx="77914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POWERFUL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57147" y="265271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3847" y="251936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wrote at different times, in different contexts — Claude connects them across years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157147" y="3805237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3847" y="3671888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Obsessions become visible — things you keep returning to without realizing it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157147" y="495776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3847" y="482441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often reveals your next move better than any planning session</a:t>
            </a:r>
            <a:endParaRPr lang="en-US" sz="2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1555477" cy="442913"/>
          </a:xfrm>
          <a:prstGeom prst="roundRect">
            <a:avLst>
              <a:gd name="adj" fmla="val 12903"/>
            </a:avLst>
          </a:prstGeom>
          <a:solidFill>
            <a:srgbClr val="6272B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12506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1827" y="762000"/>
            <a:ext cx="111153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Ideas from Your Writing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934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519363"/>
            <a:ext cx="8499797" cy="4261172"/>
          </a:xfrm>
          <a:prstGeom prst="roundRect">
            <a:avLst>
              <a:gd name="adj" fmla="val 2682"/>
            </a:avLst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86226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my notes, generate 5 startup ideas for me.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391373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research questions do my notes naturally raise?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4965204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a talk outline based on what I know about [topic].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6016675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projects best leverage my documented skills?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7147" y="1962150"/>
            <a:ext cx="77914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ISN'T GENERIC 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57147" y="2652713"/>
            <a:ext cx="76200" cy="76200"/>
          </a:xfrm>
          <a:prstGeom prst="ellipse">
            <a:avLst/>
          </a:prstGeom>
          <a:solidFill>
            <a:srgbClr val="4B78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3847" y="251936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are grounded in your actual writing — not hallucinated from general training data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157147" y="3805237"/>
            <a:ext cx="76200" cy="76200"/>
          </a:xfrm>
          <a:prstGeom prst="ellipse">
            <a:avLst/>
          </a:prstGeom>
          <a:solidFill>
            <a:srgbClr val="4B78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3847" y="3671888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cite which notes informed each idea — full traceability back to your thinking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157147" y="4957763"/>
            <a:ext cx="76200" cy="76200"/>
          </a:xfrm>
          <a:prstGeom prst="ellipse">
            <a:avLst/>
          </a:prstGeom>
          <a:solidFill>
            <a:srgbClr val="4B78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3847" y="482441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you write, the more tailored and precise the output becomes</a:t>
            </a:r>
            <a:endParaRPr lang="en-US" sz="2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1560091" cy="442913"/>
          </a:xfrm>
          <a:prstGeom prst="roundRect">
            <a:avLst>
              <a:gd name="adj" fmla="val 12903"/>
            </a:avLst>
          </a:prstGeom>
          <a:solidFill>
            <a:srgbClr val="6272B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12552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36441" y="762000"/>
            <a:ext cx="135435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&amp; Custom Commands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93497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AGENT COMMANDS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519363"/>
            <a:ext cx="8499797" cy="4261172"/>
          </a:xfrm>
          <a:prstGeom prst="roundRect">
            <a:avLst>
              <a:gd name="adj" fmla="val 2682"/>
            </a:avLst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286226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my daily review: surface my top 3 open threads.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3913733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weekly digest from this week's daily notes.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4965204"/>
            <a:ext cx="7969931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Auto-tag all untagged notes in /Inbox by topic.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5595714"/>
            <a:ext cx="7969931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notes older than 90 days with no backlinks.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7147" y="1962150"/>
            <a:ext cx="77914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AUTOPILOT CONCEPT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57147" y="265271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3847" y="251936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command once, run it forever — vault maintenance on autopilot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157147" y="3805237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3847" y="3671888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read, write, move, and tag files — full vault operations, not just queries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157147" y="4957763"/>
            <a:ext cx="76200" cy="76200"/>
          </a:xfrm>
          <a:prstGeom prst="ellipse">
            <a:avLst/>
          </a:prstGeom>
          <a:solidFill>
            <a:srgbClr val="6272B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3847" y="4824413"/>
            <a:ext cx="702089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live in your vault as .md files — version-controlled and shareable</a:t>
            </a:r>
            <a:endParaRPr lang="en-US" sz="2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12019"/>
            <a:ext cx="2547863" cy="442913"/>
          </a:xfrm>
          <a:prstGeom prst="roundRect">
            <a:avLst>
              <a:gd name="adj" fmla="val 12903"/>
            </a:avLst>
          </a:prstGeom>
          <a:solidFill>
            <a:srgbClr val="4B78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988219"/>
            <a:ext cx="224329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· 8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24213" y="762000"/>
            <a:ext cx="1029676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Agent Command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47750" y="196215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771650" y="2000250"/>
            <a:ext cx="687733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recurring task you do manually with your notes (weekly review, tagging, summarizing)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50" y="377190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771650" y="3810000"/>
            <a:ext cx="687733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Claude: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A6E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command that does [task] automatically and save it as commands/[name].md"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47750" y="558165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771650" y="5619750"/>
            <a:ext cx="687733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it. Inspect what Claude does. Refine the prompt until it's right.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" y="6877050"/>
            <a:ext cx="5715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B7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771650" y="6915150"/>
            <a:ext cx="53112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 you built with the group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058275" y="1962150"/>
            <a:ext cx="8181975" cy="5156746"/>
          </a:xfrm>
          <a:prstGeom prst="roundRect">
            <a:avLst>
              <a:gd name="adj" fmla="val 221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8800" y="2352675"/>
            <a:ext cx="81410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template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448800" y="3028950"/>
            <a:ext cx="7400925" cy="3699421"/>
          </a:xfrm>
          <a:prstGeom prst="roundRect">
            <a:avLst>
              <a:gd name="adj" fmla="val 2575"/>
            </a:avLst>
          </a:prstGeom>
          <a:solidFill>
            <a:srgbClr val="0A160A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3295650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daily-review.md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753600" y="3880470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today's daily note and all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53600" y="4350990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tasks across the vault.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53600" y="4935810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top 3 priorities for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753600" y="5406330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based on context.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53600" y="5991151"/>
            <a:ext cx="699506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 a brief bullet list.</a:t>
            </a:r>
            <a:endParaRPr lang="en-US" sz="19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Workflows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1962150"/>
            <a:ext cx="7962900" cy="3869531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90650" y="2305050"/>
            <a:ext cx="80048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Evolution Tracing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90650" y="2943225"/>
            <a:ext cx="7495413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how an idea first appeared in your vault, evolved across notes over months, and what it eventually became.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390650" y="4424363"/>
            <a:ext cx="7277100" cy="1036290"/>
          </a:xfrm>
          <a:prstGeom prst="roundRect">
            <a:avLst>
              <a:gd name="adj" fmla="val 7353"/>
            </a:avLst>
          </a:prstGeom>
          <a:solidFill>
            <a:srgbClr val="1E2030"/>
          </a:solidFill>
          <a:ln/>
        </p:spPr>
      </p:sp>
      <p:sp>
        <p:nvSpPr>
          <p:cNvPr id="7" name="Text 5"/>
          <p:cNvSpPr/>
          <p:nvPr/>
        </p:nvSpPr>
        <p:spPr>
          <a:xfrm>
            <a:off x="1581150" y="4576763"/>
            <a:ext cx="711441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Trace my thinking on [topic] from first mention to now.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7350" y="1962150"/>
            <a:ext cx="7962900" cy="3869531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20250" y="2305050"/>
            <a:ext cx="80048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Writing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620250" y="2943225"/>
            <a:ext cx="749541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posts, emails, and proposals in your voice — trained on how you actually write, not a generic template.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20250" y="3981450"/>
            <a:ext cx="7277100" cy="1036290"/>
          </a:xfrm>
          <a:prstGeom prst="roundRect">
            <a:avLst>
              <a:gd name="adj" fmla="val 7353"/>
            </a:avLst>
          </a:prstGeom>
          <a:solidFill>
            <a:srgbClr val="1E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0" y="4133850"/>
            <a:ext cx="711441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Write a post about [topic] in my voice, from my notes.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6098381"/>
            <a:ext cx="7962900" cy="3426619"/>
          </a:xfrm>
          <a:prstGeom prst="roundRect">
            <a:avLst>
              <a:gd name="adj" fmla="val 333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6441281"/>
            <a:ext cx="80048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Gap Analysis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390650" y="7079456"/>
            <a:ext cx="749541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reads your project notes and flags what's missing: undone tasks, unresolved decisions, stale threads.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90650" y="8117681"/>
            <a:ext cx="7277100" cy="1036290"/>
          </a:xfrm>
          <a:prstGeom prst="roundRect">
            <a:avLst>
              <a:gd name="adj" fmla="val 7353"/>
            </a:avLst>
          </a:prstGeom>
          <a:solidFill>
            <a:srgbClr val="1E2030"/>
          </a:solidFill>
          <a:ln/>
        </p:spPr>
      </p:sp>
      <p:sp>
        <p:nvSpPr>
          <p:cNvPr id="17" name="Text 15"/>
          <p:cNvSpPr/>
          <p:nvPr/>
        </p:nvSpPr>
        <p:spPr>
          <a:xfrm>
            <a:off x="1581150" y="8270081"/>
            <a:ext cx="711441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Audit my Projects/ folder. What's stalled or missing?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77350" y="6098381"/>
            <a:ext cx="7962900" cy="3426619"/>
          </a:xfrm>
          <a:prstGeom prst="roundRect">
            <a:avLst>
              <a:gd name="adj" fmla="val 333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0" y="6441281"/>
            <a:ext cx="80048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Digests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620250" y="7079456"/>
            <a:ext cx="749541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cron job to run your digest command daily. Claude summarizes automatically — no manual effort required.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620250" y="8117681"/>
            <a:ext cx="7277100" cy="1036290"/>
          </a:xfrm>
          <a:prstGeom prst="roundRect">
            <a:avLst>
              <a:gd name="adj" fmla="val 7353"/>
            </a:avLst>
          </a:prstGeom>
          <a:solidFill>
            <a:srgbClr val="1E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9810750" y="8270081"/>
            <a:ext cx="711441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18 * * * cd ~/Vault &amp;&amp; claude --print "run daily-digest"</a:t>
            </a:r>
            <a:endParaRPr lang="en-US" sz="1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272BE">
                  <a:alpha val="100000"/>
                </a:srgbClr>
              </a:gs>
              <a:gs pos="45000">
                <a:srgbClr val="6272BE">
                  <a:alpha val="100000"/>
                </a:srgbClr>
              </a:gs>
              <a:gs pos="72000">
                <a:srgbClr val="B0BAD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952054"/>
            <a:ext cx="11525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PICTURE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633091"/>
            <a:ext cx="107918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writing is the fuel.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047750" y="3804791"/>
            <a:ext cx="762000" cy="381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261991"/>
            <a:ext cx="8437245" cy="272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3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you write, the more powerful this becomes. Every note you take today is fuel for Claude tomorrow. The loop compounds: write → query → insight → write more.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7515671"/>
            <a:ext cx="277391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consistently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47750" y="8582471"/>
            <a:ext cx="2773913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matters less than frequency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350469" y="7515671"/>
            <a:ext cx="37903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freely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350469" y="8096696"/>
            <a:ext cx="3549192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[[Wiki-links]] build the graph Claude navigates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405887" y="7515671"/>
            <a:ext cx="34312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system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405887" y="8096696"/>
            <a:ext cx="3212944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Claude surface what you can't see yet</a:t>
            </a:r>
            <a:endParaRPr lang="en-US" sz="22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1962150"/>
            <a:ext cx="85705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tools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47750" y="2638425"/>
            <a:ext cx="85705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05138"/>
            <a:ext cx="85705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obsidian.md — free for personal use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495675"/>
            <a:ext cx="85705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27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3862387"/>
            <a:ext cx="85705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claude.ai/code — requires Claude subscription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4505325"/>
            <a:ext cx="85705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workshop on GitHub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47750" y="5143500"/>
            <a:ext cx="85705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27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github.com/jpwhorley/llm-wiki-brain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5572125"/>
            <a:ext cx="857059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example vault structure, starter commands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448800" y="1962150"/>
            <a:ext cx="857059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448800" y="2638425"/>
            <a:ext cx="85705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Take Smart Notes — Sönke Ahrens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48800" y="3005138"/>
            <a:ext cx="857059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Zettelkasten method that inspired Obsidian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448800" y="3571875"/>
            <a:ext cx="85705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Second Brain — Tiago Forte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48800" y="3938588"/>
            <a:ext cx="857059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 system used in this workshop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448800" y="4505325"/>
            <a:ext cx="85705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Documentation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800" y="4872038"/>
            <a:ext cx="85705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docs.anthropic.com/en/docs/claude-code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48800" y="5514975"/>
            <a:ext cx="7791450" cy="2509838"/>
          </a:xfrm>
          <a:prstGeom prst="roundRect">
            <a:avLst>
              <a:gd name="adj" fmla="val 4554"/>
            </a:avLst>
          </a:prstGeom>
          <a:solidFill>
            <a:srgbClr val="F7F6F2"/>
          </a:solidFill>
          <a:ln/>
        </p:spPr>
      </p:sp>
      <p:sp>
        <p:nvSpPr>
          <p:cNvPr id="19" name="Text 17"/>
          <p:cNvSpPr/>
          <p:nvPr/>
        </p:nvSpPr>
        <p:spPr>
          <a:xfrm>
            <a:off x="9791700" y="5819775"/>
            <a:ext cx="78162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P. Whorley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91700" y="6262688"/>
            <a:ext cx="731882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25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Asst. Director Operations, ML Lab @ UT Austin Institute for Foundations of Machine Learning (IFML) ifml.utexas.edu</a:t>
            </a:r>
            <a:endParaRPr lang="en-US" sz="2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272BE">
                  <a:alpha val="10000"/>
                </a:srgbClr>
              </a:gs>
              <a:gs pos="100000">
                <a:srgbClr val="6272B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219004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900041"/>
            <a:ext cx="17811750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7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750" dirty="0"/>
          </a:p>
        </p:txBody>
      </p:sp>
      <p:sp>
        <p:nvSpPr>
          <p:cNvPr id="5" name="Shape 3"/>
          <p:cNvSpPr/>
          <p:nvPr/>
        </p:nvSpPr>
        <p:spPr>
          <a:xfrm>
            <a:off x="1047750" y="5295454"/>
            <a:ext cx="952500" cy="38100"/>
          </a:xfrm>
          <a:prstGeom prst="rect">
            <a:avLst/>
          </a:prstGeom>
          <a:solidFill>
            <a:srgbClr val="6272BE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5790754"/>
            <a:ext cx="457048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P. Whorley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6214616"/>
            <a:ext cx="427963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6A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Asst. Director Operations Machine Learning Lab @ UT Austin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64734" y="5790754"/>
            <a:ext cx="61607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2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materials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964734" y="6252716"/>
            <a:ext cx="61607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27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github.com/jpwhorley/llm-wiki-brain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125950" y="266700"/>
            <a:ext cx="781050" cy="78105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15404083" y="9544050"/>
            <a:ext cx="2502917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2026-06-23T04:24:12Z</dcterms:created>
  <dcterms:modified xsi:type="dcterms:W3CDTF">2026-06-23T04:24:12Z</dcterms:modified>
</cp:coreProperties>
</file>